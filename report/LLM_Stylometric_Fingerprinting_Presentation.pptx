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39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title, and the central question. Explain that the task compares five LLM families using stylometric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stylometry is useful: it captures form and writing habits, not just semantic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research question and summarize the measurable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balanced corpus and emphasize that each model contributes equally across all genres.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analysis pipeline and introduce the formal classification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features are interpretable and describe writing form rather than semantic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semantic silhouette scores and explain that embeddings do not strongly separate model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41 out of 43 features were significant, with 22 large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selected feature mean charts and interpret the model-specific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main classification results and show the logistic-regression confusion matrix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GroupKFold and why it is important for this particular dataset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feature importance to show that the predictive signal is distributed across multiple feature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dashboard presents saved outputs and helps make the project reproducible and explorable.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limitations and frame the claim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answer, the strongest evidence,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Large Language Models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Have a Writing Style?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6700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C4E80"/>
                </a:solidFill>
              </a:rPr>
              <a:t>A Stylometric Comparison of LLM-Generated Texts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3566160" cy="0"/>
          </a:xfrm>
          <a:prstGeom prst="line">
            <a:avLst/>
          </a:prstGeom>
          <a:noFill/>
          <a:ln w="27940">
            <a:solidFill>
              <a:srgbClr val="C49A3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96579"/>
                </a:solidFill>
              </a:rPr>
              <a:t>Research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95935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</a:rPr>
              <a:t>Can stylometric features distinguish texts generated by different LLM families?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5440" y="1554480"/>
            <a:ext cx="1051560" cy="320040"/>
          </a:xfrm>
          <a:prstGeom prst="roundRect">
            <a:avLst>
              <a:gd name="adj" fmla="val 22857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9326880" y="164134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ChatGPT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378440" y="1554480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59A9C"/>
          </a:solidFill>
          <a:ln w="12700">
            <a:solidFill>
              <a:srgbClr val="159A9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10469880" y="16413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Claude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235440" y="1993392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9326880" y="20802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DeepSeek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835640" y="1993392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10927080" y="2080260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Gemini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738360" y="2432304"/>
            <a:ext cx="1234440" cy="320040"/>
          </a:xfrm>
          <a:prstGeom prst="roundRect">
            <a:avLst>
              <a:gd name="adj" fmla="val 22857"/>
            </a:avLst>
          </a:prstGeom>
          <a:solidFill>
            <a:srgbClr val="159A9C"/>
          </a:solidFill>
          <a:ln w="12700">
            <a:solidFill>
              <a:srgbClr val="159A9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9829800" y="251917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Mistral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6579"/>
                </a:solidFill>
              </a:rPr>
              <a:t>Viola Awor · Natural Language 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Motivation: meaning is not the whole story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Research motivation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LLMs often produce fluent, semantically similar answers to the same prompt.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The open question is whether their writing habits remain measurably different.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9A9C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34543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sentence structure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523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9A9C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7660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punctuation habits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7296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9A9C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866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word choice and lexical diversity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9359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9A9C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6073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readability and function-word usage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01421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9A9C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0279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discourse and AI-style markers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43800" y="132588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81812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Core distinction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0" y="2240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4E80"/>
                </a:solidFill>
              </a:rPr>
              <a:t>Semantic similarity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0" y="25786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579"/>
                </a:solidFill>
              </a:rPr>
              <a:t>what the text is about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58200" y="2971800"/>
            <a:ext cx="155448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800100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9A9C"/>
                </a:solidFill>
              </a:rPr>
              <a:t>Stylometry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3584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6579"/>
                </a:solidFill>
              </a:rPr>
              <a:t>how the text is written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 and measurable objectives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Study design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EEF5FF"/>
          </a:solidFill>
          <a:ln w="12700">
            <a:solidFill>
              <a:srgbClr val="C8D9F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Can stylometric features distinguish texts generated by different LLM families?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43687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Build a balanced corpus of LLM-generated texts.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28803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89407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Extract measurable stylometric features.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51560" y="33375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335127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Test feature differences across model families.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51560" y="37947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380847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Compare semantic clustering with stylometric evidence.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51560" y="42519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426567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Train classifiers to predict model family.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51560" y="47091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4722876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Critically discuss effectiveness and limitations.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experimental design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Corpus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85800" y="1024128"/>
            <a:ext cx="489204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49808" y="111556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087368" y="11155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49808" y="149961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texts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087368" y="149961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85800" y="1408176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85800" y="1792224"/>
            <a:ext cx="4892040" cy="384048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49808" y="1883664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families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087368" y="188366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85800" y="1792224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749808" y="226771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Texts per model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087368" y="22677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85800" y="2176272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85800" y="2560320"/>
            <a:ext cx="4892040" cy="384048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749808" y="265176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Genres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087368" y="265176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85800" y="2560320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49808" y="303580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Texts per genre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087368" y="30358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85800" y="2944368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685800" y="3328416"/>
            <a:ext cx="4892040" cy="384048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749808" y="341985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Texts per model per genre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4087368" y="341985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85800" y="3328416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749808" y="3803904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Stylometric features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4087368" y="380390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85800" y="3712464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Shape 30"/>
          <p:cNvSpPr/>
          <p:nvPr/>
        </p:nvSpPr>
        <p:spPr>
          <a:xfrm>
            <a:off x="685800" y="4096512"/>
            <a:ext cx="4892040" cy="384048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ext 31"/>
          <p:cNvSpPr/>
          <p:nvPr/>
        </p:nvSpPr>
        <p:spPr>
          <a:xfrm>
            <a:off x="749808" y="418795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groups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087368" y="418795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85800" y="4096512"/>
            <a:ext cx="489204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6400800" y="1143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Genres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537960" y="16916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12280" y="17053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Narrative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37960" y="21671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812280" y="21808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Descriptive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537960" y="264261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12280" y="26563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Argumentative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37960" y="31181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12280" y="31318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Dialogue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40080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Why balance matters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6400800" y="44348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Equal model and genre coverage reduces class-size and genre imbalance as sources of bias.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Pipeline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822960" y="111556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2F7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Controlled prompts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11556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2F7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3749040" y="1280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42232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API generation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111556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2F7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537960" y="1280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31152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Cleaning + length validation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9720" y="111556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2F7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9326880" y="12801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20072" y="1298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Stylometric features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221284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4FBF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960120" y="2377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53312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Semantic maps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11880" y="221284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4FBF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3749040" y="2377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42232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Statistical tests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221284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4FBF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6537960" y="2377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31152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Classification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89720" y="221284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F4FBFA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9326880" y="23774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C"/>
                </a:solidFill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20072" y="23957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</a:rPr>
              <a:t>Streamlit dashboard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5840" y="3730752"/>
            <a:ext cx="101498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822960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Formal task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22960" y="45720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</a:rPr>
              <a:t>Represent each generated text as a 43-dimensional stylometric vector, then predict model family.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51663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4E80"/>
                </a:solidFill>
              </a:rPr>
              <a:t>φ(xᵢ) ∈ ℝ⁴³  →  {ChatGPT, Claude, DeepSeek, Gemini, Mistral}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Stylometric features: what is measured?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Feature design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Length &amp; sentence structure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14950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word count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7739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17876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sentence count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0665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0802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average sentence length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3591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3728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long-sentence ratio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10515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Punctuation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14813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4950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comma count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17739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7876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period count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20665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0802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dash count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23591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3728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punctuation per 100 words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75320" y="10515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Lexical diversity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1040" y="14813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95360" y="14950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type-token ratio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17739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95360" y="17876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Yule’s 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21040" y="20665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95360" y="20802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Honore’s 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23591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95360" y="23728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MATTR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06040" y="37947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Markers &amp; function words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651760" y="42245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26080" y="42382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function-word ratio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651760" y="45171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26080" y="45308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transition markers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51760" y="480974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0" y="48234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hedging markers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51760" y="51023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26080" y="51160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AI-style markers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37947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</a:rPr>
              <a:t>Readability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446520" y="422452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20840" y="42382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Flesch reading ease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46520" y="451713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9A9C"/>
                </a:solidFill>
              </a:rPr>
              <a:t>•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20840" y="45308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Gunning Fog index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mapping: weak model-family clustering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Embeddings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85800" y="1115568"/>
            <a:ext cx="384048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49808" y="1207008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90088" y="12070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silhouette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664208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90088" y="16642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0.0685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572768"/>
            <a:ext cx="38404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85800" y="2029968"/>
            <a:ext cx="3840480" cy="457200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49808" y="2121408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90088" y="21214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0.0361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029968"/>
            <a:ext cx="38404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749808" y="2578608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family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90088" y="2578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-0.0075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2487168"/>
            <a:ext cx="38404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7772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59A9C"/>
                </a:solidFill>
              </a:rPr>
              <a:t>•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143000" y="38541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Theme has the strongest semantic signal, but it is still weak.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868680" y="431596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59A9C"/>
                </a:solidFill>
              </a:rPr>
              <a:t>•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143000" y="43296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Model family is slightly negative.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868680" y="47914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59A9C"/>
                </a:solidFill>
              </a:rPr>
              <a:t>•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143000" y="48051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Sentence embeddings capture topic/theme more than model identity.</a:t>
            </a:r>
            <a:endParaRPr lang="en-US" sz="1220" dirty="0"/>
          </a:p>
        </p:txBody>
      </p:sp>
      <p:pic>
        <p:nvPicPr>
          <p:cNvPr id="25" name="Image 0" descr="/mnt/data/extracted_project_charts/06_semantic_maps_interpreted_cell26_img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351059"/>
            <a:ext cx="5852160" cy="415588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testing: model families differ in style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Kruskal-Wallis + FDR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685800" y="932688"/>
            <a:ext cx="4069080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749808" y="102412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3401568" y="1024128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49808" y="144475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tested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3401568" y="1444752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85800" y="1353312"/>
            <a:ext cx="40690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85800" y="1773936"/>
            <a:ext cx="4069080" cy="420624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49808" y="186537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Significant after FDR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3401568" y="1865376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85800" y="1773936"/>
            <a:ext cx="40690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749808" y="228600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effects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3401568" y="2286000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85800" y="2194560"/>
            <a:ext cx="40690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685800" y="2615184"/>
            <a:ext cx="4069080" cy="420624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749808" y="270662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effects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3401568" y="2706624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85800" y="2615184"/>
            <a:ext cx="40690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49808" y="312724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effects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3401568" y="3127248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85800" y="3035808"/>
            <a:ext cx="40690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685800" y="3456432"/>
            <a:ext cx="4069080" cy="420624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749808" y="35478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Negligible effects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3401568" y="3547872"/>
            <a:ext cx="1289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685800" y="3456432"/>
            <a:ext cx="40690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9" name="Image 0" descr="/mnt/data/extracted_project_charts/07_statistical_tests_interpreted_fixed_cell16_img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926327"/>
            <a:ext cx="5760720" cy="409094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394960" y="5257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827"/>
                </a:solidFill>
              </a:rPr>
              <a:t>Most stylometric features differ significantly across model families, and many differences are practically meaningful.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32" name="Text 29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Model-specific stylometric patterns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Interpretable differences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5" name="Image 0" descr="/mnt/data/extracted_project_charts/07_statistical_tests_interpreted_fixed_cell27_img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92" y="914400"/>
            <a:ext cx="3464456" cy="2148840"/>
          </a:xfrm>
          <a:prstGeom prst="rect">
            <a:avLst/>
          </a:prstGeom>
        </p:spPr>
      </p:pic>
      <p:pic>
        <p:nvPicPr>
          <p:cNvPr id="6" name="Image 1" descr="/mnt/data/extracted_project_charts/07_statistical_tests_interpreted_fixed_cell27_img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392" y="914400"/>
            <a:ext cx="3464456" cy="2148840"/>
          </a:xfrm>
          <a:prstGeom prst="rect">
            <a:avLst/>
          </a:prstGeom>
        </p:spPr>
      </p:pic>
      <p:pic>
        <p:nvPicPr>
          <p:cNvPr id="7" name="Image 2" descr="/mnt/data/extracted_project_charts/07_statistical_tests_interpreted_fixed_cell27_img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992" y="914400"/>
            <a:ext cx="3464456" cy="2148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Patterns observed in the project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914400" y="41605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59A9C"/>
                </a:solidFill>
              </a:rPr>
              <a:t>•</a:t>
            </a:r>
            <a:endParaRPr lang="en-US" sz="1330" dirty="0"/>
          </a:p>
        </p:txBody>
      </p:sp>
      <p:sp>
        <p:nvSpPr>
          <p:cNvPr id="10" name="Text 5"/>
          <p:cNvSpPr/>
          <p:nvPr/>
        </p:nvSpPr>
        <p:spPr>
          <a:xfrm>
            <a:off x="1188720" y="417423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DeepSeek: longer and more expansive sentence structures.</a:t>
            </a:r>
            <a:endParaRPr lang="en-US" sz="1330" dirty="0"/>
          </a:p>
        </p:txBody>
      </p:sp>
      <p:sp>
        <p:nvSpPr>
          <p:cNvPr id="11" name="Text 6"/>
          <p:cNvSpPr/>
          <p:nvPr/>
        </p:nvSpPr>
        <p:spPr>
          <a:xfrm>
            <a:off x="914400" y="45720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59A9C"/>
                </a:solidFill>
              </a:rPr>
              <a:t>•</a:t>
            </a:r>
            <a:endParaRPr lang="en-US" sz="1330" dirty="0"/>
          </a:p>
        </p:txBody>
      </p:sp>
      <p:sp>
        <p:nvSpPr>
          <p:cNvPr id="12" name="Text 7"/>
          <p:cNvSpPr/>
          <p:nvPr/>
        </p:nvSpPr>
        <p:spPr>
          <a:xfrm>
            <a:off x="1188720" y="458571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Gemini: higher comma count and comma density.</a:t>
            </a:r>
            <a:endParaRPr lang="en-US" sz="1330" dirty="0"/>
          </a:p>
        </p:txBody>
      </p:sp>
      <p:sp>
        <p:nvSpPr>
          <p:cNvPr id="13" name="Text 8"/>
          <p:cNvSpPr/>
          <p:nvPr/>
        </p:nvSpPr>
        <p:spPr>
          <a:xfrm>
            <a:off x="914400" y="49834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59A9C"/>
                </a:solidFill>
              </a:rPr>
              <a:t>•</a:t>
            </a:r>
            <a:endParaRPr lang="en-US" sz="1330" dirty="0"/>
          </a:p>
        </p:txBody>
      </p:sp>
      <p:sp>
        <p:nvSpPr>
          <p:cNvPr id="14" name="Text 9"/>
          <p:cNvSpPr/>
          <p:nvPr/>
        </p:nvSpPr>
        <p:spPr>
          <a:xfrm>
            <a:off x="1188720" y="499719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Claude: higher average word length and lexical density.</a:t>
            </a:r>
            <a:endParaRPr lang="en-US" sz="1330" dirty="0"/>
          </a:p>
        </p:txBody>
      </p:sp>
      <p:sp>
        <p:nvSpPr>
          <p:cNvPr id="15" name="Text 10"/>
          <p:cNvSpPr/>
          <p:nvPr/>
        </p:nvSpPr>
        <p:spPr>
          <a:xfrm>
            <a:off x="914400" y="53949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159A9C"/>
                </a:solidFill>
              </a:rPr>
              <a:t>•</a:t>
            </a:r>
            <a:endParaRPr lang="en-US" sz="1330" dirty="0"/>
          </a:p>
        </p:txBody>
      </p:sp>
      <p:sp>
        <p:nvSpPr>
          <p:cNvPr id="16" name="Text 11"/>
          <p:cNvSpPr/>
          <p:nvPr/>
        </p:nvSpPr>
        <p:spPr>
          <a:xfrm>
            <a:off x="1188720" y="5408676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</a:rPr>
              <a:t>ChatGPT: higher function-word ratio.</a:t>
            </a:r>
            <a:endParaRPr lang="en-US" sz="1330" dirty="0"/>
          </a:p>
        </p:txBody>
      </p:sp>
      <p:sp>
        <p:nvSpPr>
          <p:cNvPr id="17" name="Text 1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18" name="Text 13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Classification: predicting the generating model family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Supervised evaluation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594360" y="978408"/>
            <a:ext cx="548640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58368" y="106984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87168" y="1069848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15968" y="106984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30368" y="106984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F1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15087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87168" y="1508760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stylometric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15968" y="15087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30368" y="15087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1417320"/>
            <a:ext cx="548640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594360" y="1856232"/>
            <a:ext cx="5486400" cy="438912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58368" y="194767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87168" y="1947672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stylometric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15968" y="19476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30368" y="19476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0.776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1856232"/>
            <a:ext cx="548640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658368" y="238658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87168" y="238658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Structure/format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15968" y="23865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4360" y="2295144"/>
            <a:ext cx="548640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Shape 24"/>
          <p:cNvSpPr/>
          <p:nvPr/>
        </p:nvSpPr>
        <p:spPr>
          <a:xfrm>
            <a:off x="594360" y="2734056"/>
            <a:ext cx="5486400" cy="438912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58368" y="282549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87168" y="2825496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Content-oriented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15968" y="282549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30368" y="282549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" y="2734056"/>
            <a:ext cx="548640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731520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48"/>
                </a:solidFill>
              </a:rPr>
              <a:t>Random baseline = 0.20</a:t>
            </a:r>
            <a:endParaRPr lang="en-US" sz="1500" dirty="0"/>
          </a:p>
        </p:txBody>
      </p:sp>
      <p:pic>
        <p:nvPicPr>
          <p:cNvPr id="33" name="Image 0" descr="/mnt/data/extracted_project_charts/08_classification_modeling_interpreted_cell17_img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925279"/>
            <a:ext cx="5212080" cy="4458801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31520" y="4251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11827"/>
                </a:solidFill>
              </a:rPr>
              <a:t>Prompt-aware GroupKFold prevents the same prompt ID from appearing in both train and test folds.</a:t>
            </a:r>
            <a:endParaRPr lang="en-US" sz="1340" dirty="0"/>
          </a:p>
        </p:txBody>
      </p:sp>
      <p:sp>
        <p:nvSpPr>
          <p:cNvPr id="35" name="Text 32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36" name="Text 33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design: avoiding prompt leakage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Cross-validation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Why prompt-aware splitting matters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43000" y="161391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All models answered the same prompt set.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43000" y="211683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A random split could leak prompt-specific topic patterns.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3000" y="261975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GroupKFold by prompt_id forces generalization to unseen prompts.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59A9C"/>
                </a:solidFill>
              </a:rPr>
              <a:t>•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43000" y="312267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11827"/>
                </a:solidFill>
              </a:rPr>
              <a:t>This makes the result a stronger test of writing style.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0" y="1325880"/>
            <a:ext cx="3337560" cy="3429000"/>
          </a:xfrm>
          <a:prstGeom prst="roundRect">
            <a:avLst>
              <a:gd name="adj" fmla="val 3288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754380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Evaluation metrics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18120" y="22402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2440" y="22539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18120" y="26517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26654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Macro precision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30632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30769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Macro recall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18120" y="34747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92440" y="34884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Macro F1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18120" y="38862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92440" y="38999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Weighted F1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importance: the fingerprint is distributed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Model interpretation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5" name="Image 0" descr="/mnt/data/extracted_project_charts/08_classification_modeling_interpreted_cell21_img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2968"/>
            <a:ext cx="5623560" cy="4492025"/>
          </a:xfrm>
          <a:prstGeom prst="rect">
            <a:avLst/>
          </a:prstGeom>
        </p:spPr>
      </p:pic>
      <p:pic>
        <p:nvPicPr>
          <p:cNvPr id="6" name="Image 1" descr="/mnt/data/extracted_project_charts/08_classification_modeling_interpreted_cell25_img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51880"/>
            <a:ext cx="5349240" cy="2948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52578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</a:rPr>
              <a:t>Key point: there is no single “magic” feature; model identity is distributed across several stylistic dimensions.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9" name="Text 5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dashboard and reproducibility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Deliverables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Interactive dashboard sections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1143000" y="152247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Dataset summary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1143000" y="19431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Stylometric feature explorer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868680" y="23500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1143000" y="23637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Semantic maps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868680" y="27706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1143000" y="27843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Statistical-test results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868680" y="31912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1143000" y="32049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Classification performance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868680" y="361188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1143000" y="36255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Feature importance and conclusion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649224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Repository organization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15087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6949440" y="15224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src/: reusable modules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6675120" y="19293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6949440" y="19431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scripts/: reproducible pipelines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6675120" y="23500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24" name="Text 22"/>
          <p:cNvSpPr/>
          <p:nvPr/>
        </p:nvSpPr>
        <p:spPr>
          <a:xfrm>
            <a:off x="6949440" y="23637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notebooks/: interpretation</a:t>
            </a:r>
            <a:endParaRPr lang="en-US" sz="1380" dirty="0"/>
          </a:p>
        </p:txBody>
      </p:sp>
      <p:sp>
        <p:nvSpPr>
          <p:cNvPr id="25" name="Text 23"/>
          <p:cNvSpPr/>
          <p:nvPr/>
        </p:nvSpPr>
        <p:spPr>
          <a:xfrm>
            <a:off x="6675120" y="27706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6949440" y="27843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outputs/: saved tables and figures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6675120" y="31912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159A9C"/>
                </a:solidFill>
              </a:rPr>
              <a:t>•</a:t>
            </a:r>
            <a:endParaRPr lang="en-US" sz="1380" dirty="0"/>
          </a:p>
        </p:txBody>
      </p:sp>
      <p:sp>
        <p:nvSpPr>
          <p:cNvPr id="28" name="Text 26"/>
          <p:cNvSpPr/>
          <p:nvPr/>
        </p:nvSpPr>
        <p:spPr>
          <a:xfrm>
            <a:off x="6949440" y="32049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</a:rPr>
              <a:t>app/: Streamlit dashboard</a:t>
            </a:r>
            <a:endParaRPr lang="en-US" sz="1380" dirty="0"/>
          </a:p>
        </p:txBody>
      </p:sp>
      <p:sp>
        <p:nvSpPr>
          <p:cNvPr id="29" name="Shape 27"/>
          <p:cNvSpPr/>
          <p:nvPr/>
        </p:nvSpPr>
        <p:spPr>
          <a:xfrm>
            <a:off x="2103120" y="51663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F4FBFA"/>
          </a:solidFill>
          <a:ln w="12700">
            <a:solidFill>
              <a:srgbClr val="CFE7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2331720" y="533095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9A9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streamlit run app/streamlit_dashboard.py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Critical discussion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15671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Corpus is controlled but limited to 1,000 texts.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67335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8706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Only five model families are included.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037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2174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Results may change with different prompts, domains, or languages.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73405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7477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Model versions and decoding settings can change over time.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32644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9A9C"/>
                </a:solidFill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27812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Stylometric features are interpretable but not exhaustive.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983480"/>
            <a:ext cx="10287000" cy="594360"/>
          </a:xfrm>
          <a:prstGeom prst="roundRect">
            <a:avLst>
              <a:gd name="adj" fmla="val 18462"/>
            </a:avLst>
          </a:prstGeom>
          <a:solidFill>
            <a:srgbClr val="FFF8E7"/>
          </a:solidFill>
          <a:ln w="12700">
            <a:solidFill>
              <a:srgbClr val="E7D4A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1097280" y="5175504"/>
            <a:ext cx="9738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0" b="1" dirty="0">
                <a:solidFill>
                  <a:srgbClr val="0B1F3A"/>
                </a:solidFill>
              </a:rPr>
              <a:t>The result does not imply perfect attribution in all settings; it shows strong evidence under a controlled experimental design.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784080" y="2560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596579"/>
                </a:solidFill>
              </a:rPr>
              <a:t>Final answer</a:t>
            </a:r>
            <a:endParaRPr lang="en-US" sz="880" dirty="0"/>
          </a:p>
        </p:txBody>
      </p:sp>
      <p:sp>
        <p:nvSpPr>
          <p:cNvPr id="4" name="Shape 2"/>
          <p:cNvSpPr/>
          <p:nvPr/>
        </p:nvSpPr>
        <p:spPr>
          <a:xfrm>
            <a:off x="502920" y="676656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</a:rPr>
              <a:t>Final answer: Yes.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827"/>
                </a:solidFill>
              </a:rPr>
              <a:t>Stylometric features can distinguish texts generated by different LLM families.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212848"/>
            <a:ext cx="56692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886968" y="230428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2990088" y="2304288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886968" y="274320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maps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990088" y="2743200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model-family clustering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56692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822960" y="3090672"/>
            <a:ext cx="5669280" cy="438912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886968" y="318211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 tests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990088" y="3182112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/ 43 features significant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22960" y="3090672"/>
            <a:ext cx="56692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886968" y="3621024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Post-hoc tests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2990088" y="3621024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 / 100 pairwise tests significant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22960" y="3529584"/>
            <a:ext cx="56692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822960" y="3968496"/>
            <a:ext cx="5669280" cy="438912"/>
          </a:xfrm>
          <a:prstGeom prst="rect">
            <a:avLst/>
          </a:prstGeom>
          <a:solidFill>
            <a:srgbClr val="F7F9FC">
              <a:alpha val="90000"/>
            </a:srgbClr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886968" y="4059936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990088" y="4059936"/>
            <a:ext cx="3438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78.1% accuracy vs. 20% baseline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22960" y="3968496"/>
            <a:ext cx="5669280" cy="0"/>
          </a:xfrm>
          <a:prstGeom prst="line">
            <a:avLst/>
          </a:prstGeom>
          <a:noFill/>
          <a:ln w="444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7726680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Future work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818120" y="150876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92440" y="15224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more model families and versions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18120" y="191109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92440" y="19248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multilingual prompts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23134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92440" y="23271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human-written comparison set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18120" y="271576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92440" y="27294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paraphrasing robustness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18120" y="311810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9A9C"/>
                </a:solidFill>
              </a:rPr>
              <a:t>•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92440" y="31318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style drift over model updates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4400" y="5257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9A9C"/>
                </a:solidFill>
              </a:rPr>
              <a:t>LLMs generated semantically similar answers, but they did not write in identical styles.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596579"/>
                </a:solidFill>
              </a:rPr>
              <a:t>LLM Stylometric Fingerprinting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11064240" y="6473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96579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1214</Words>
  <Application>Microsoft Macintosh PowerPoint</Application>
  <PresentationFormat>Widescreen</PresentationFormat>
  <Paragraphs>360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Large Language Models Have a Writing Style?</dc:title>
  <dc:subject>LLM Stylometric Fingerprinting</dc:subject>
  <dc:creator>Viola Awor</dc:creator>
  <cp:lastModifiedBy>Viola Awor</cp:lastModifiedBy>
  <cp:revision>2</cp:revision>
  <dcterms:created xsi:type="dcterms:W3CDTF">2026-07-03T10:18:17Z</dcterms:created>
  <dcterms:modified xsi:type="dcterms:W3CDTF">2026-07-09T09:13:31Z</dcterms:modified>
</cp:coreProperties>
</file>